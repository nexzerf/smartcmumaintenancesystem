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hyperlink" Target="https://fastfix-cmu.vercel.app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lg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9357055" y="-1371600"/>
            <a:ext cx="4206240" cy="4206240"/>
          </a:xfrm>
          <a:prstGeom prst="rect">
            <a:avLst/>
          </a:prstGeom>
        </p:spPr>
      </p:pic>
      <p:pic>
        <p:nvPicPr>
          <p:cNvPr id="3" name="Image 1" descr="C:\Users\namai\OneDrive\เอกสาร\Maintenance System\report\assets\orb-sm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40080" y="4937760"/>
            <a:ext cx="2194560" cy="2194560"/>
          </a:xfrm>
          <a:prstGeom prst="rect">
            <a:avLst/>
          </a:prstGeom>
        </p:spPr>
      </p:pic>
      <p:pic>
        <p:nvPicPr>
          <p:cNvPr id="4" name="Image 2" descr="C:\Users\namai\OneDrive\เอกสาร\Maintenance System\public\brand\fastfix-wordmar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58368"/>
            <a:ext cx="2514600" cy="4846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58368" y="148132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954244 การวิเคราะห์และออกแบบระบบสำหรับการบริหารจัดการสมัยใหม่ · ภาคการศึกษาที่ 1/2569</a:t>
            </a:r>
            <a:endParaRPr lang="en-US" sz="1350" dirty="0"/>
          </a:p>
        </p:txBody>
      </p:sp>
      <p:sp>
        <p:nvSpPr>
          <p:cNvPr id="6" name="Text 1"/>
          <p:cNvSpPr/>
          <p:nvPr/>
        </p:nvSpPr>
        <p:spPr>
          <a:xfrm>
            <a:off x="612648" y="192024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 ติดตาม ปิดงาน
</a:t>
            </a:r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ครบ</a:t>
            </a:r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ในระบบเดียว</a:t>
            </a:r>
            <a:endParaRPr lang="en-US" sz="4400" dirty="0"/>
          </a:p>
        </p:txBody>
      </p:sp>
      <p:sp>
        <p:nvSpPr>
          <p:cNvPr id="7" name="Text 2"/>
          <p:cNvSpPr/>
          <p:nvPr/>
        </p:nvSpPr>
        <p:spPr>
          <a:xfrm>
            <a:off x="658368" y="37307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Smart CMU Maintenance Request System · ระบบแจ้งซ่อมอัจฉริยะ มหาวิทยาลัยเชียงใหม่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58368" y="4800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ตรีรัตน์ จอมพันธ์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58368" y="50749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682110032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2532888" y="4800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พจณิชา ทองย้อย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2532888" y="50749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682110061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407408" y="4800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ภานิชา ศรีกระจ่าง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407408" y="50749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682110073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281928" y="4800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สุภาวิกา นันทสุวรรณ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81928" y="50749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682110095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8368" y="4645152"/>
            <a:ext cx="7406640" cy="0"/>
          </a:xfrm>
          <a:prstGeom prst="line">
            <a:avLst/>
          </a:prstGeom>
          <a:noFill/>
          <a:ln w="12700">
            <a:solidFill>
              <a:srgbClr val="2E2A3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8368" y="5715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ต้นแบบใช้งานจริง · https://fastfix-cmu.vercel.app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503920" y="1005840"/>
            <a:ext cx="3017520" cy="4846320"/>
          </a:xfrm>
          <a:prstGeom prst="roundRect">
            <a:avLst>
              <a:gd name="adj" fmla="val 6667"/>
            </a:avLst>
          </a:prstGeom>
          <a:solidFill>
            <a:srgbClr val="17131F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19" name="Image 3" descr="C:\Users\namai\OneDrive\เอกสาร\Maintenance System\report\out\diagrams\slide\cover-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815" y="1234440"/>
            <a:ext cx="2033729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· ความเป็นมาและปัญหา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ระบบเดิมทำให้งานซ่อม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ตกหล่นและติดตามไม่ได้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3493008" cy="1993392"/>
          </a:xfrm>
          <a:prstGeom prst="roundRect">
            <a:avLst>
              <a:gd name="adj" fmla="val 7339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21396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24963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ช่องทางกระจัดกระจาย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0976" y="29626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โทรศัพท์ กระดาษ และแชต ข้อมูลตกหล่น ไม่มีผู้รับผิดชอบชัดเจน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493008" cy="1993392"/>
          </a:xfrm>
          <a:prstGeom prst="roundRect">
            <a:avLst>
              <a:gd name="adj" fmla="val 7339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81728" y="21396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81728" y="24963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ข้อมูลไม่ครบถ้วน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81728" y="29626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ไม่มีรูปภาพ ระบุห้องไม่ชัด ช่างต้องเสียเวลาไปสำรวจซ้ำ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119872" y="1920240"/>
            <a:ext cx="3493008" cy="1993392"/>
          </a:xfrm>
          <a:prstGeom prst="roundRect">
            <a:avLst>
              <a:gd name="adj" fmla="val 7339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21396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0" y="24963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ติดตามไม่ได้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12480" y="29626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ผู้แจ้งไม่ทราบความคืบหน้า ต้องโทรสอบถามซ้ำซ้อน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4133088"/>
            <a:ext cx="3493008" cy="1993392"/>
          </a:xfrm>
          <a:prstGeom prst="roundRect">
            <a:avLst>
              <a:gd name="adj" fmla="val 7339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" y="43525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50976" y="4709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แจ้งซ้ำ งานไม่สมดุล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0976" y="5175504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ปัญหาเดียวกันแจ้งหลายครั้ง งานกระจุกที่ช่างบางคน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389120" y="4133088"/>
            <a:ext cx="3493008" cy="1993392"/>
          </a:xfrm>
          <a:prstGeom prst="roundRect">
            <a:avLst>
              <a:gd name="adj" fmla="val 7339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1728" y="43525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681728" y="4709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ไม่มีการยืนยันผล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681728" y="5175504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ไม่ทราบว่าซ่อมแล้วปัญหาหายจริงหรือไม่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119872" y="4133088"/>
            <a:ext cx="3493008" cy="1993392"/>
          </a:xfrm>
          <a:prstGeom prst="roundRect">
            <a:avLst>
              <a:gd name="adj" fmla="val 7339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43525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412480" y="4709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ไม่มีสถิติ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412480" y="5175504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ผู้บริหารไม่มีข้อมูลจริงสำหรับวางแผนงบประมาณ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· วัตถุประสงค์และขอบเขต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ระบบเดียว ตั้งแต่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แจ้งจนปิดงาน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6035040" cy="4206240"/>
          </a:xfrm>
          <a:prstGeom prst="roundRect">
            <a:avLst>
              <a:gd name="adj" fmla="val 3478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13969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261518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261518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สร้างระบบแจ้งซ่อมแบบรวมศูนย์ ตั้งแต่แจ้งจนปิดงาน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316382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316382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แจ้งซ่อมพร้อมรูปถ่ายและระบุสถานที่ได้ใน 3 นาที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371246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80160" y="371246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ติดตามสถานะแบบเรียลไทม์ และให้ผู้แจ้งยืนยันผลเอง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426110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80160" y="426110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ช่างดูงานและอัปเดตสถานะผ่านสมาร์ตโฟนได้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480974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480974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ผู้ดูแลระบบคัดกรอง มอบหมายงาน และดูแดชบอร์ด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535838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80160" y="535838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ประยุกต์ใช้ Agile (Scrum) พัฒนาต้นแบบที่ใช้งานได้จริง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022592" y="1920240"/>
            <a:ext cx="4517136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33488" y="2103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อยู่ในขอบเขต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33488" y="252374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607808" y="25237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 3 ส่วน + แดชบอร์ดผู้ดูแลระบบ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333488" y="2999232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607808" y="29992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ส่งออกรายงาน Excel และ PDF ภาษาไทย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33488" y="3474720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607808" y="34747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ข้อมูลจริง 3 วิทยาเขต 157 อาคาร 965 ห้อง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022592" y="4443984"/>
            <a:ext cx="4517136" cy="1682496"/>
          </a:xfrm>
          <a:prstGeom prst="roundRect">
            <a:avLst>
              <a:gd name="adj" fmla="val 8696"/>
            </a:avLst>
          </a:prstGeom>
          <a:solidFill>
            <a:srgbClr val="0E0E11"/>
          </a:solidFill>
          <a:ln w="12700">
            <a:solidFill>
              <a:srgbClr val="0E0E1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33488" y="46268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นอกขอบเขต · รอบถัดไป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33488" y="499262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CMU OAuth จริง · LINE OA · AI จัดประเภทคำร้องอัตโนมัติ · QR Code ประจำห้อง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· ผู้มีส่วนได้ส่วนเสียและผู้ใช้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บทบาท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รูปแบบการใช้งาน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3493008" cy="3200400"/>
          </a:xfrm>
          <a:prstGeom prst="roundRect">
            <a:avLst>
              <a:gd name="adj" fmla="val 4571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50976" y="25786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นักศึกษาและบุคลากร · มือถือ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50976" y="3017520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25296" y="301752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แจ้งซ่อมพร้อมรูปและสถานที่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50976" y="343814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25296" y="343814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ติดตามสถานะคำร้อง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50976" y="3858768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225296" y="38587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ยืนยันผลและให้คะแนน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50976" y="44439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ใช้ไม่บ่อย ต้องเร็วและเข้าใจง่าย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89120" y="1920240"/>
            <a:ext cx="3493008" cy="3200400"/>
          </a:xfrm>
          <a:prstGeom prst="roundRect">
            <a:avLst>
              <a:gd name="adj" fmla="val 4571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1728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4681728" y="25786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ช่างซ่อมบำรุง · มือถือ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81728" y="3017520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956048" y="301752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ดูงานที่ได้รับมอบหมาย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681728" y="343814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956048" y="343814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รับงานและแจ้งรออะไหล่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681728" y="3858768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956048" y="38587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บันทึกผลพร้อมรูปหลังซ่อม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681728" y="44439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ทำงานนอกสถานที่ เดินระหว่างอาคาร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119872" y="1920240"/>
            <a:ext cx="3493008" cy="3200400"/>
          </a:xfrm>
          <a:prstGeom prst="roundRect">
            <a:avLst>
              <a:gd name="adj" fmla="val 4571"/>
            </a:avLst>
          </a:prstGeom>
          <a:solidFill>
            <a:srgbClr val="0E0E11"/>
          </a:solidFill>
          <a:ln w="12700">
            <a:solidFill>
              <a:srgbClr val="0E0E1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</a:t>
            </a: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8412480" y="25786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เจ้าหน้าที่อาคารสถานที่ · คอมพิวเตอร์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412480" y="3017520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686800" y="301752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คัดกรองและมอบหมายงาน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412480" y="343814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686800" y="343814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ดูแดชบอร์ดสรุปผล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8412480" y="3858768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686800" y="38587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ส่งออกรายงาน Excel/PDF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8412480" y="44439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จัดการคำร้องจำนวนมากต่อเนื่อง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58368" y="5303520"/>
            <a:ext cx="10872216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" y="54498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ผู้มีส่วนได้ส่วนเสียอื่น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9264" y="572414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ผู้บริหารมหาวิทยาลัย (รายงานและสถิติเพื่อวางแผนงบประมาณ) · ITSC (ความปลอดภัยและการเชื่อมต่อ CMU Account) · เจ้าหน้าที่ PDPA (คุ้มครองข้อมูลส่วนบุคคล)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· ความต้องการเชิงฟังก์ชัน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 3 ฟังก์ชัน และ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ฟังก์ชันเพิ่มเติมของทีม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2578608" cy="411480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12140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1214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96112" y="2578608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ส่งคำร้องแจ้งซ่อม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96112" y="3456432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0432" y="34564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ฟอร์ม 4 ขั้นตอน: ประเภท สถานที่ รายละเอียด ตรวจสอบ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6112" y="426110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70432" y="4261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แนบรูปถ่ายปัญหา 1–3 รูป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" y="5065776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70432" y="506577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ตรวจพบคำร้องซ้ำ แล้วกดติดตามแทนการแจ้งใหม่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38144" y="1920240"/>
            <a:ext cx="2578608" cy="411480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75888" y="212140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75888" y="21214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2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675888" y="2578608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ติดตามสถานะคำร้อง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675888" y="3456432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950208" y="34564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ไทม์ไลน์อัปเดตแบบเรียลไทม์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75888" y="426110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50208" y="4261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ยกเลิกคำร้อง และตอบคำถามเพิ่มเติม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675888" y="5065776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950208" y="506577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ยืนยันผล ให้คะแนนดาว หรือแจ้งว่ายังไม่หาย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0" y="1920240"/>
            <a:ext cx="2578608" cy="411480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55664" y="212140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55664" y="21214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3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55664" y="2578608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ดูงานและอัปเดตสถานะของช่าง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455664" y="3456432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729984" y="34564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รายการงานเรียงตามความเร่งด่วน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55664" y="426110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729984" y="4261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รับงาน · รออะไหล่ · ซ่อมเสร็จ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55664" y="5065776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729984" y="506577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บันทึกผลพร้อมรูปหลังซ่อม และโทรหาผู้แจ้ง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997696" y="1920240"/>
            <a:ext cx="2578608" cy="4114800"/>
          </a:xfrm>
          <a:prstGeom prst="roundRect">
            <a:avLst>
              <a:gd name="adj" fmla="val 5674"/>
            </a:avLst>
          </a:prstGeom>
          <a:solidFill>
            <a:srgbClr val="0E0E11"/>
          </a:solidFill>
          <a:ln w="12700">
            <a:solidFill>
              <a:srgbClr val="0E0E1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235440" y="212140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241E2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235440" y="21214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ฟังก์ชันเพิ่มเติม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9235440" y="2578608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แดชบอร์ดผู้ดูแลระบบ</a:t>
            </a:r>
            <a:endParaRPr lang="en-US" sz="1700" dirty="0"/>
          </a:p>
        </p:txBody>
      </p:sp>
      <p:sp>
        <p:nvSpPr>
          <p:cNvPr id="40" name="Text 37"/>
          <p:cNvSpPr/>
          <p:nvPr/>
        </p:nvSpPr>
        <p:spPr>
          <a:xfrm>
            <a:off x="9235440" y="3456432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509760" y="34564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คัดกรอง มอบหมายช่าง และรวมคำร้องซ้ำ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9235440" y="4261104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9509760" y="4261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ตัวชี้วัด 5 ตัว และกราฟวิเคราะห์ 5 ด้าน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9235440" y="5065776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509760" y="506577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ส่งออกรายงาน Excel และ PDF ภาษาไทย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58368" y="629107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ทุกบทบาทใช้ร่วมกัน: เข้าสู่ระบบด้วย CMU Account (จำลอง) · ระบบแจ้งเตือน · ลืมรหัสผ่าน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· ความต้องการที่ไม่ใช่ฟังก์ชัน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วัดผลได้จริง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ใน 4 ด้านหลัก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5321808" cy="1993392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" y="21762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176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9264" y="2633472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เซสชันหมดเวลาอัตโนมัติใน 30 นาที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ตรวจสอบสิทธิ์และสถานะฝั่งเซิร์ฟเวอร์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เข้ารหัสรหัสผ่าน bcrypt และใช้ HTTPS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เบอร์ผู้แจ้งเห็นเฉพาะช่างที่รับงาน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ยินยอม PDPA ก่อนใช้งานครั้งแรก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แยกบทบาทฐานข้อมูล (smartcmu_app)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321808" cy="1993392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1762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 w="12700">
            <a:solidFill>
              <a:srgbClr val="E6F0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176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8C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ประสิทธิภาพ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28816" y="2633472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โหลดหน้าเว็บเร็ว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รูปภาพไม่เกิน 1 MB อัปโหลดเสร็จใน 5 วินาที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สถานะอัปเดตถึงผู้ใช้อื่นภายใน 5 วินาที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เซิร์ฟเวอร์ตั้งที่สิงคโปร์ (sin1)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" y="4133088"/>
            <a:ext cx="5321808" cy="1993392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43891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5F6EA"/>
          </a:solidFill>
          <a:ln w="12700">
            <a:solidFill>
              <a:srgbClr val="E5F6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693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การใช้งาน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69264" y="48463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รองรับทุกขนาดจอ เริ่มที่ 360 px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มีเลย์เอาต์เฉพาะสำหรับเดสก์ท็อป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ออกแบบให้แจ้งซ่อมเสร็จใน 3 นาที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รองรับโหมดลดภาพเคลื่อนไหว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4133088"/>
            <a:ext cx="5321808" cy="1993392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0" y="43891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4A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การบำรุงรักษา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28816" y="48463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ผิดพลาดแล้วลองใหม่ได้ ข้อมูลที่กรอกไม่หาย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แก้ไขข้อมูลพื้นฐานผ่านหน้าผู้ดูแลระบบ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 Chrome, Safari และ Edge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· การประยุกต์ใช้ Agile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Sprint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ส่งมอบทีละฟังก์ชัน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1389888"/>
            <a:ext cx="99605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รอบละ 1–2 วัน แต่ละ Sprint ส่งมอบฟังก์ชันที่ทดสอบได้จริงตามลำดับความสำคัญ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" y="1993392"/>
            <a:ext cx="2578608" cy="329184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157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96112" y="24505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ส่งคำร้องแจ้งซ่อม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96112" y="30358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กิจกรรมหลัก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6112" y="3273552"/>
            <a:ext cx="21214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ตั้งค่าโปรไฟล์/PDPA · ฟอร์มแจ้งซ่อมและเลือกสถานที่ · แนบรูปและบีบอัดภาพ · สร้างรหัสคำร้องอัตโนมัติ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96112" y="45537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6112" y="479145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หน้าจอแจ้งซ่อมที่บันทึกข้อมูลและรูปได้จริง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38144" y="1993392"/>
            <a:ext cx="2578608" cy="329184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75888" y="2157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675888" y="24505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ติดตามสถานะคำร้อง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3675888" y="30358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กิจกรรมหลัก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75888" y="3273552"/>
            <a:ext cx="21214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ประวัติคำร้อง ค้นหาและกรอง · ไทม์ไลน์เรียลไทม์ · ยกเลิกคำร้องและตอบคำถามเพิ่มเติม · ยืนยันผลและให้คะแนน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675888" y="45537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75888" y="479145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หน้าติดตามสถานะพร้อมไทม์ไลน์และการให้คะแนน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17920" y="1993392"/>
            <a:ext cx="2578608" cy="329184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55664" y="2157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55664" y="24505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งานของช่าง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6455664" y="30358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กิจกรรมหลัก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55664" y="3273552"/>
            <a:ext cx="21214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รายการงานเรียงตามความเร่งด่วน · หน้ารายละเอียดงานและโทรหาผู้แจ้ง · เปลี่ยนสถานะตามกฎ · ปิดงานพร้อมรูปหลังซ่อม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455664" y="45537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55664" y="479145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โมดูลช่างที่จัดการสถานะได้ครบบนมือถือ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997696" y="1993392"/>
            <a:ext cx="2578608" cy="3291840"/>
          </a:xfrm>
          <a:prstGeom prst="roundRect">
            <a:avLst>
              <a:gd name="adj" fmla="val 5674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35440" y="2157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4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235440" y="24505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แดชบอร์ดและบูรณาการ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9235440" y="30358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กิจกรรมหลัก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235440" y="3273552"/>
            <a:ext cx="21214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ตัวชี้วัด 5 ตัว · กราฟวิเคราะห์ 5 ด้าน · ตารางงานด่วนค้างนาน · ส่งออก Excel/PDF · ทดสอบแบบ End-to-End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9235440" y="45537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235440" y="4791456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ระบบเต็มที่ทุกฟังก์ชันทำงานเชื่อมโยงกัน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58368" y="5449824"/>
            <a:ext cx="10872216" cy="877824"/>
          </a:xfrm>
          <a:prstGeom prst="roundRect">
            <a:avLst>
              <a:gd name="adj" fmla="val 16667"/>
            </a:avLst>
          </a:prstGeom>
          <a:solidFill>
            <a:srgbClr val="0E0E11"/>
          </a:solidFill>
          <a:ln w="12700">
            <a:solidFill>
              <a:srgbClr val="0E0E1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9264" y="5614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Planning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969264" y="5870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 Requirement มาแตกเป็น Task ทุกสองวัน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648456" y="5614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Daily Standup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3648456" y="5870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ประชุมสั้น 10–15 นาที ติดตามงานและปัญหา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327648" y="5614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Review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327648" y="5870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ตรวจรับงานตามเกณฑ์ Definition of Done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006840" y="5614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Retrospective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9006840" y="5870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สรุปปัญหาและแนวทางปรับปรุงรอบถัดไป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· Use Case Diagram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ผู้กระทำ 4 ราย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27 ยูสเคส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1389888"/>
            <a:ext cx="99605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แยกแสดงทีละมุมมองให้อ่านได้ชัด แผนภาพฉบับเต็มที่รวมทุกผู้กระทำอยู่ในรายงาน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" y="1938528"/>
            <a:ext cx="5440680" cy="4334256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204825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มุมมองผู้แจ้ง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" y="2304288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UC01–UC13</a:t>
            </a:r>
            <a:endParaRPr lang="en-US" sz="1150" dirty="0"/>
          </a:p>
        </p:txBody>
      </p:sp>
      <p:pic>
        <p:nvPicPr>
          <p:cNvPr id="10" name="Image 1" descr="C:\Users\namai\OneDrive\เอกสาร\Maintenance System\report\out\diagrams\slide\usecase-repo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0" y="2615184"/>
            <a:ext cx="4800735" cy="35112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81928" y="1938528"/>
            <a:ext cx="2615184" cy="4334256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01384" y="204825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มุมมองช่าง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01384" y="230428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UC14–UC18</a:t>
            </a:r>
            <a:endParaRPr lang="en-US" sz="1150" dirty="0"/>
          </a:p>
        </p:txBody>
      </p:sp>
      <p:pic>
        <p:nvPicPr>
          <p:cNvPr id="14" name="Image 2" descr="C:\Users\namai\OneDrive\เอกสาร\Maintenance System\report\out\diagrams\slide\usecase-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3513751"/>
            <a:ext cx="2359152" cy="171416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098280" y="1938528"/>
            <a:ext cx="2432304" cy="433425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317736" y="204825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มุมมองผู้ดูแลระบบและตัวตั้งเวลา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317736" y="2304288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UC19–UC27</a:t>
            </a:r>
            <a:endParaRPr lang="en-US" sz="1150" dirty="0"/>
          </a:p>
        </p:txBody>
      </p:sp>
      <p:pic>
        <p:nvPicPr>
          <p:cNvPr id="18" name="Image 3" descr="C:\Users\namai\OneDrive\เอกสาร\Maintenance System\report\out\diagrams\slide\usecase-adm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3299663"/>
            <a:ext cx="2176272" cy="21423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" y="634593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«include» แจ้งซ่อม ต้องเลือกสถานที่และแนบรูป · «extend» ยืนยันผล ต่อยอดจากติดตามสถานะ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· Activity Diagram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1 · </a:t>
            </a:r>
            <a:pPr indent="0" marL="0">
              <a:buNone/>
            </a:pPr>
            <a:r>
              <a:rPr lang="en-US" sz="27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ส่งคำร้องแจ้งซ่อม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481328"/>
            <a:ext cx="818388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pic>
        <p:nvPicPr>
          <p:cNvPr id="7" name="Image 1" descr="C:\Users\namai\OneDrive\เอกสาร\Maintenance System\report\out\diagrams\slide\activity-subm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01" y="1645920"/>
            <a:ext cx="6800615" cy="45171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1481328"/>
            <a:ext cx="2478024" cy="4846320"/>
          </a:xfrm>
          <a:prstGeom prst="roundRect">
            <a:avLst>
              <a:gd name="adj" fmla="val 5904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90304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ขั้นตอนสำคัญ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290304" y="21031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546336" y="207568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เลือกประเภทและความเร่งด่วน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290304" y="29443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546336" y="2916936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เลือกวิทยาเขต คณะ อาคาร ชั้น ห้อง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290304" y="37856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546336" y="3758184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ระบบตรวจคำร้องซ้ำ แล้วเลือกติดตามแทน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290304" y="46268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546336" y="459943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กรอกรายละเอียด แนบรูป 1–3 รูป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290304" y="54681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546336" y="544068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 แล้วได้เลขคำร้อง MR-YYMM-NNNN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· Activity Diagram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2 · </a:t>
            </a:r>
            <a:pPr indent="0" marL="0">
              <a:buNone/>
            </a:pPr>
            <a:r>
              <a:rPr lang="en-US" sz="27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ติดตามสถานะคำร้อง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481328"/>
            <a:ext cx="818388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pic>
        <p:nvPicPr>
          <p:cNvPr id="7" name="Image 1" descr="C:\Users\namai\OneDrive\เอกสาร\Maintenance System\report\out\diagrams\slide\activity-confi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81" y="1645920"/>
            <a:ext cx="7779053" cy="45171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1481328"/>
            <a:ext cx="2478024" cy="4846320"/>
          </a:xfrm>
          <a:prstGeom prst="roundRect">
            <a:avLst>
              <a:gd name="adj" fmla="val 5904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90304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ขั้นตอนสำคัญ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290304" y="21031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546336" y="207568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เปิดไทม์ไลน์ดูทุกขั้นตอนและเวลา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290304" y="29443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546336" y="2916936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ยกเลิกคำร้องได้ก่อนช่างรับเรื่อง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290304" y="37856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546336" y="3758184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ตอบคำถามเพิ่มเติมเมื่อแอดมินขอข้อมูล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290304" y="46268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546336" y="459943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ซ่อมเสร็จ: ยืนยันผลและให้คะแนนดาว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290304" y="54681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546336" y="544068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ยังไม่หาย: ส่งกลับให้ช่างแก้ไขต่อ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· Activity Diagram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3 · </a:t>
            </a:r>
            <a:pPr indent="0" marL="0">
              <a:buNone/>
            </a:pPr>
            <a:r>
              <a:rPr lang="en-US" sz="27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คัดกรองและมอบหมายงาน (ผู้ดูแลระบบ)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481328"/>
            <a:ext cx="818388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pic>
        <p:nvPicPr>
          <p:cNvPr id="7" name="Image 1" descr="C:\Users\namai\OneDrive\เอกสาร\Maintenance System\report\out\diagrams\slide\activity-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15584"/>
            <a:ext cx="7818120" cy="41778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1481328"/>
            <a:ext cx="2478024" cy="4846320"/>
          </a:xfrm>
          <a:prstGeom prst="roundRect">
            <a:avLst>
              <a:gd name="adj" fmla="val 5904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90304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ขั้นตอนสำคัญ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290304" y="21031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546336" y="207568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รับเรื่องคำร้องที่เข้ามาใหม่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290304" y="29443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546336" y="2916936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ขอข้อมูลเพิ่มเติมเมื่อรายละเอียดไม่พอ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290304" y="37856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546336" y="3758184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รวมคำร้องซ้ำ หรือปฏิเสธพร้อมเหตุผล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290304" y="46268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546336" y="459943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มอบหมายช่างตามความถนัดและงานค้าง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290304" y="54681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546336" y="544068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ปรับระดับความเร่งด่วนได้ตลอดเวลา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· Activity Diagram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3 · </a:t>
            </a:r>
            <a:pPr indent="0" marL="0">
              <a:buNone/>
            </a:pPr>
            <a:r>
              <a:rPr lang="en-US" sz="27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ดูงานและอัปเดตสถานะ (ช่าง)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481328"/>
            <a:ext cx="818388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pic>
        <p:nvPicPr>
          <p:cNvPr id="7" name="Image 1" descr="C:\Users\namai\OneDrive\เอกสาร\Maintenance System\report\out\diagrams\slide\activity-technic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78" y="1645920"/>
            <a:ext cx="7279261" cy="45171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1481328"/>
            <a:ext cx="2478024" cy="4846320"/>
          </a:xfrm>
          <a:prstGeom prst="roundRect">
            <a:avLst>
              <a:gd name="adj" fmla="val 5904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90304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ขั้นตอนสำคัญ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290304" y="21031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546336" y="207568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ดูรายการงานเรียงตามความเร่งด่วน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290304" y="29443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546336" y="2916936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กดรับงาน สถานะเปลี่ยนเป็นกำลังซ่อม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290304" y="37856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546336" y="3758184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แจ้งรออะไหล่พร้อมเหตุผล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290304" y="46268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546336" y="459943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บันทึกผล แนบรูปหลังซ่อมและสาเหตุ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290304" y="54681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546336" y="544068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โทรหาผู้แจ้งได้จากหน้ารายละเอียดงาน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· Activity Diagram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ฟังก์ชันเพิ่มเติม · </a:t>
            </a:r>
            <a:pPr indent="0" marL="0">
              <a:buNone/>
            </a:pPr>
            <a:r>
              <a:rPr lang="en-US" sz="27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แดชบอร์ดผู้ดูแลระบบ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481328"/>
            <a:ext cx="818388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pic>
        <p:nvPicPr>
          <p:cNvPr id="7" name="Image 1" descr="C:\Users\namai\OneDrive\เอกสาร\Maintenance System\report\out\diagrams\slide\activity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56" y="1645920"/>
            <a:ext cx="6810705" cy="45171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1481328"/>
            <a:ext cx="2478024" cy="4846320"/>
          </a:xfrm>
          <a:prstGeom prst="roundRect">
            <a:avLst>
              <a:gd name="adj" fmla="val 5904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90304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ขั้นตอนสำคัญ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290304" y="21031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546336" y="207568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เลือกช่วงเวลา 7 วัน 30 วัน เดือนนี้ หรือกำหนดเอง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290304" y="29443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546336" y="2916936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ตัวชี้วัด 5 ตัว สรุปภาพรวมงานซ่อม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290304" y="37856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546336" y="3758184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กราฟวิเคราะห์ 5 ด้าน จากข้อมูลจริง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290304" y="46268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546336" y="459943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ตารางงานด่วนค้างนาน กดเข้าจัดการต่อได้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290304" y="54681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546336" y="544068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ส่งออกรายงาน Excel หรือ PDF ภาษาไทย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 · Information Architecture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โครงสร้างหน้าจอ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แยกตามบทบาท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1389888"/>
            <a:ext cx="99605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ทุกบทบาทเริ่มที่หน้าเข้าสู่ระบบเดียวกัน แล้วเข้าสู่พื้นที่ของตนเอง (/login › /home · /tech · /admin)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" y="1883664"/>
            <a:ext cx="10872216" cy="2615184"/>
          </a:xfrm>
          <a:prstGeom prst="roundRect">
            <a:avLst>
              <a:gd name="adj" fmla="val 5594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0665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2688" y="2377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 หน้าจอหลัก</a:t>
            </a:r>
            <a:endParaRPr lang="en-US" sz="1150" dirty="0"/>
          </a:p>
        </p:txBody>
      </p:sp>
      <p:pic>
        <p:nvPicPr>
          <p:cNvPr id="10" name="Image 1" descr="C:\Users\namai\OneDrive\เอกสาร\Maintenance System\report\out\diagrams\slide\ia-repo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125" y="2011680"/>
            <a:ext cx="6400325" cy="23591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4626864"/>
            <a:ext cx="5321808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4773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32688" y="50657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หน้าจอหลัก</a:t>
            </a:r>
            <a:endParaRPr lang="en-US" sz="1150" dirty="0"/>
          </a:p>
        </p:txBody>
      </p:sp>
      <p:pic>
        <p:nvPicPr>
          <p:cNvPr id="14" name="Image 2" descr="C:\Users\namai\OneDrive\เอกสาร\Maintenance System\report\out\diagrams\slide\ia-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647" y="4736592"/>
            <a:ext cx="2476002" cy="148132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17920" y="4626864"/>
            <a:ext cx="5321808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92240" y="4773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92240" y="50657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หน้าจอหลัก</a:t>
            </a:r>
            <a:endParaRPr lang="en-US" sz="1150" dirty="0"/>
          </a:p>
        </p:txBody>
      </p:sp>
      <p:pic>
        <p:nvPicPr>
          <p:cNvPr id="18" name="Image 3" descr="C:\Users\namai\OneDrive\เอกสาร\Maintenance System\report\out\diagrams\slide\ia-adm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494" y="4736592"/>
            <a:ext cx="2675411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 · User Flows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เส้นทางการใช้งาน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ของทั้ง 3 บทบาท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828800"/>
            <a:ext cx="4480560" cy="4498848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pic>
        <p:nvPicPr>
          <p:cNvPr id="7" name="Image 1" descr="C:\Users\namai\OneDrive\เอกสาร\Maintenance System\report\out\diagrams\user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11" y="1975104"/>
            <a:ext cx="3127874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49824" y="1828800"/>
            <a:ext cx="6080760" cy="1188720"/>
          </a:xfrm>
          <a:prstGeom prst="roundRect">
            <a:avLst>
              <a:gd name="adj" fmla="val 12308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24144" y="1993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724144" y="2286000"/>
            <a:ext cx="5532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› หน้าแรก › แจ้งซ่อม 4 ขั้นตอน › เจอคำร้องซ้ำให้กดติดตามแทน › ติดตามสถานะ › ยืนยันผลและให้คะแนน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49824" y="3145536"/>
            <a:ext cx="6080760" cy="1188720"/>
          </a:xfrm>
          <a:prstGeom prst="roundRect">
            <a:avLst>
              <a:gd name="adj" fmla="val 12308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24144" y="33101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24144" y="3602736"/>
            <a:ext cx="5532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› งานของฉัน (เรียงตามความเร่งด่วน) › รายละเอียดงาน › รับงาน › รออะไหล่ › บันทึกซ่อมเสร็จพร้อมรูป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49824" y="4462272"/>
            <a:ext cx="6080760" cy="1188720"/>
          </a:xfrm>
          <a:prstGeom prst="roundRect">
            <a:avLst>
              <a:gd name="adj" fmla="val 12308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24144" y="46268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724144" y="4919472"/>
            <a:ext cx="5532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› แดชบอร์ด › คำร้องทั้งหมด › แผงจัดการ (รับเรื่อง มอบหมาย รวมซ้ำ) › ส่งออกรายงาน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49824" y="5779008"/>
            <a:ext cx="6080760" cy="548640"/>
          </a:xfrm>
          <a:prstGeom prst="roundRect">
            <a:avLst>
              <a:gd name="adj" fmla="val 26667"/>
            </a:avLst>
          </a:prstGeom>
          <a:solidFill>
            <a:srgbClr val="0E0E11"/>
          </a:solidFill>
          <a:ln w="12700">
            <a:solidFill>
              <a:srgbClr val="0E0E1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24144" y="5779008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ทุกเส้นทางจบที่สถานะปิดงาน และระบบปิดงานอัตโนมัติให้เมื่อครบ 3 วันหลังซ่อมเสร็จ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 · Wireframes และ Prototype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จากไวร์เฟรม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สู่หน้าจอจริงของผู้แจ้ง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828800"/>
            <a:ext cx="5321808" cy="3931920"/>
          </a:xfrm>
          <a:prstGeom prst="roundRect">
            <a:avLst>
              <a:gd name="adj" fmla="val 3721"/>
            </a:avLst>
          </a:prstGeom>
          <a:solidFill>
            <a:srgbClr val="F6F5F8"/>
          </a:solidFill>
          <a:ln w="12700">
            <a:solidFill>
              <a:srgbClr val="F6F5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Wireframe</a:t>
            </a:r>
            <a:endParaRPr lang="en-US" sz="1250" dirty="0"/>
          </a:p>
        </p:txBody>
      </p:sp>
      <p:pic>
        <p:nvPicPr>
          <p:cNvPr id="8" name="Image 1" descr="C:\Users\namai\OneDrive\เอกสาร\Maintenance System\report\screens\wf-repo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44487"/>
            <a:ext cx="4956048" cy="257486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17920" y="1828800"/>
            <a:ext cx="5321808" cy="3931920"/>
          </a:xfrm>
          <a:prstGeom prst="roundRect">
            <a:avLst>
              <a:gd name="adj" fmla="val 3721"/>
            </a:avLst>
          </a:prstGeom>
          <a:solidFill>
            <a:srgbClr val="F4EEFB"/>
          </a:solidFill>
          <a:ln w="12700">
            <a:solidFill>
              <a:srgbClr val="F4EEF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19568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หน้าจอจริง · แจ้งซ่อม 4 ขั้นตอน และตรวจพบคำร้องซ้ำ</a:t>
            </a:r>
            <a:endParaRPr lang="en-US" sz="1250" dirty="0"/>
          </a:p>
        </p:txBody>
      </p:sp>
      <p:pic>
        <p:nvPicPr>
          <p:cNvPr id="11" name="Image 2" descr="C:\Users\namai\OneDrive\เอกสาร\Maintenance System\report\screens\ui-repor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44487"/>
            <a:ext cx="4956048" cy="25748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368" y="5943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ไวร์เฟรมวางโครงและลำดับข้อมูลก่อน แล้วจึงลงสี ไอคอน และสถานะจริง โดยคงโครงเดิมไว้ทั้งหมด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m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454335" y="-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 · Wireframes และ Prototype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ต้นแบบที่กดใช้งานได้จริง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 3 บทบาท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865376"/>
            <a:ext cx="5321808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9751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 · รายการงานและการอัปเดตสถานะ</a:t>
            </a:r>
            <a:endParaRPr lang="en-US" sz="1250" dirty="0"/>
          </a:p>
        </p:txBody>
      </p:sp>
      <p:pic>
        <p:nvPicPr>
          <p:cNvPr id="8" name="Image 1" descr="C:\Users\namai\OneDrive\เอกสาร\Maintenance System\report\screens\ui-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50" y="2286000"/>
            <a:ext cx="4400044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17920" y="1865376"/>
            <a:ext cx="5321808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0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19751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 · แดชบอร์ดและการมอบหมายช่าง</a:t>
            </a:r>
            <a:endParaRPr lang="en-US" sz="1250" dirty="0"/>
          </a:p>
        </p:txBody>
      </p:sp>
      <p:pic>
        <p:nvPicPr>
          <p:cNvPr id="11" name="Image 2" descr="C:\Users\namai\OneDrive\เอกสาร\Maintenance System\report\screens\ui-admin-d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887" y="2286000"/>
            <a:ext cx="3571875" cy="2286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58368" y="4846320"/>
            <a:ext cx="10872216" cy="1481328"/>
          </a:xfrm>
          <a:prstGeom prst="roundRect">
            <a:avLst>
              <a:gd name="adj" fmla="val 9877"/>
            </a:avLst>
          </a:prstGeom>
          <a:solidFill>
            <a:srgbClr val="0E0E11"/>
          </a:solidFill>
          <a:ln w="12700">
            <a:solidFill>
              <a:srgbClr val="0E0E1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87552" y="50292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ต้นแบบใช้งานได้จริงบนเว็บ</a:t>
            </a:r>
            <a:endParaRPr lang="en-US" sz="1600" dirty="0"/>
          </a:p>
        </p:txBody>
      </p:sp>
      <p:sp>
        <p:nvSpPr>
          <p:cNvPr id="14" name="Text 9">
            <a:hlinkClick r:id="rId4" tooltip=""/>
          </p:cNvPr>
          <p:cNvSpPr/>
          <p:nvPr/>
        </p:nvSpPr>
        <p:spPr>
          <a:xfrm>
            <a:off x="987552" y="535838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https://fastfix-cmu.vercel.app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0" y="519379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ครอบคลุมทุกฟังก์ชันที่ออกแบบไว้ · ใช้ได้ทั้งมือถือและเดสก์ท็อป · ข้อมูลสถานที่จริง 3 วิทยาเขต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mai\OneDrive\เอกสาร\Maintenance System\report\assets\orb-lg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9357055" y="-1371600"/>
            <a:ext cx="4206240" cy="4206240"/>
          </a:xfrm>
          <a:prstGeom prst="rect">
            <a:avLst/>
          </a:prstGeom>
        </p:spPr>
      </p:pic>
      <p:pic>
        <p:nvPicPr>
          <p:cNvPr id="3" name="Image 1" descr="C:\Users\namai\OneDrive\เอกสาร\Maintenance System\report\assets\orb-sm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40080" y="4937760"/>
            <a:ext cx="2194560" cy="2194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02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12648" y="713232"/>
            <a:ext cx="109663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FastFix CMU </a:t>
            </a:r>
            <a:pPr indent="0" marL="0">
              <a:buNone/>
            </a:pPr>
            <a:r>
              <a:rPr lang="en-US" sz="30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พร้อมใช้งานจริง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58368" y="2066544"/>
            <a:ext cx="2578608" cy="1792224"/>
          </a:xfrm>
          <a:prstGeom prst="roundRect">
            <a:avLst>
              <a:gd name="adj" fmla="val 8163"/>
            </a:avLst>
          </a:prstGeom>
          <a:solidFill>
            <a:srgbClr val="1A1620"/>
          </a:solidFill>
          <a:ln w="12700">
            <a:solidFill>
              <a:srgbClr val="1A162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32688" y="223113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932688" y="2926080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 + 1 ฟังก์ชันเพิ่มเติม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38144" y="2066544"/>
            <a:ext cx="2578608" cy="1792224"/>
          </a:xfrm>
          <a:prstGeom prst="roundRect">
            <a:avLst>
              <a:gd name="adj" fmla="val 8163"/>
            </a:avLst>
          </a:prstGeom>
          <a:solidFill>
            <a:srgbClr val="1A1620"/>
          </a:solidFill>
          <a:ln w="12700">
            <a:solidFill>
              <a:srgbClr val="1A162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12464" y="223113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27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3712464" y="2926080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ยูสเคส จาก 4 ผู้กระทำ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2066544"/>
            <a:ext cx="2578608" cy="1792224"/>
          </a:xfrm>
          <a:prstGeom prst="roundRect">
            <a:avLst>
              <a:gd name="adj" fmla="val 8163"/>
            </a:avLst>
          </a:prstGeom>
          <a:solidFill>
            <a:srgbClr val="1A1620"/>
          </a:solidFill>
          <a:ln w="12700">
            <a:solidFill>
              <a:srgbClr val="1A162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92240" y="223113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6492240" y="2926080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ตามกระบวนการ Agile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997696" y="2066544"/>
            <a:ext cx="2578608" cy="1792224"/>
          </a:xfrm>
          <a:prstGeom prst="roundRect">
            <a:avLst>
              <a:gd name="adj" fmla="val 8163"/>
            </a:avLst>
          </a:prstGeom>
          <a:solidFill>
            <a:srgbClr val="1A1620"/>
          </a:solidFill>
          <a:ln w="12700">
            <a:solidFill>
              <a:srgbClr val="1A162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272016" y="223113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157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9272016" y="2926080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อาคารจริง 965 ห้อง ใน 3 วิทยาเขต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8368" y="4297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ขอบคุณครับ/ค่ะ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658368" y="4882896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ยินดีตอบคำถาม · https://fastfix-cmu.vercel.app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8368" y="55412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ตรีรัตน์ จอมพันธ์ 682110032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767328" y="55412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พจณิชา ทองย้อย 682110061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8368" y="5870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ภานิชา ศรีกระจ่าง 682110073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3767328" y="5870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สุภาวิกา นันทสุวรรณ 682110095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7315200" y="4169664"/>
            <a:ext cx="4215384" cy="2157984"/>
          </a:xfrm>
          <a:prstGeom prst="roundRect">
            <a:avLst>
              <a:gd name="adj" fmla="val 6780"/>
            </a:avLst>
          </a:prstGeom>
          <a:solidFill>
            <a:srgbClr val="1A1620"/>
          </a:solidFill>
          <a:ln w="12700">
            <a:solidFill>
              <a:srgbClr val="1A162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26096" y="43525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ส่งมอบครบตามเกณฑ์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626096" y="4773168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7900416" y="477316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รายงานฉบับเต็ม (PDF) และสไลด์นำเสนอ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626096" y="5193792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900416" y="519379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ยูสเคส · แอกทิวิตี · IA · ผังการใช้งาน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626096" y="5614416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9C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900416" y="561441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1B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ไวร์เฟรมและต้นแบบที่กดใช้งานได้จริง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elawade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FastFix CMU — ระบบแจ้งซ่อมอัจฉริยะ มหาวิทยาลัยเชียงใหม่</dc:title>
  <dc:subject>PptxGenJS Presentation</dc:subject>
  <dc:creator>FastFix CMU</dc:creator>
  <cp:lastModifiedBy>FastFix CMU</cp:lastModifiedBy>
  <cp:revision>1</cp:revision>
  <dcterms:created xsi:type="dcterms:W3CDTF">2026-10-01T07:59:34Z</dcterms:created>
  <dcterms:modified xsi:type="dcterms:W3CDTF">2026-10-01T07:59:34Z</dcterms:modified>
</cp:coreProperties>
</file>